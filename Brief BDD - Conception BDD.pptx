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AAF93FA-0D68-46EF-9903-B1C5A4C65717}">
  <a:tblStyle styleId="{9AAF93FA-0D68-46EF-9903-B1C5A4C6571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ab671d5c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ab671d5c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ab671d5c1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ab671d5c1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ab671d5c1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ab671d5c1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platforms.id" TargetMode="External"/><Relationship Id="rId4" Type="http://schemas.openxmlformats.org/officeDocument/2006/relationships/hyperlink" Target="http://games.id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1435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5656475" y="2005500"/>
            <a:ext cx="3000000" cy="11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1053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b="1" lang="fr" sz="1800">
                <a:solidFill>
                  <a:schemeClr val="dk1"/>
                </a:solidFill>
                <a:highlight>
                  <a:srgbClr val="FFFFFF"/>
                </a:highlight>
              </a:rPr>
              <a:t>Conception BDD Normalisée et Conforme au RGPD (SIDORA AI)</a:t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2405400" y="2335200"/>
            <a:ext cx="904500" cy="196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/>
              <a:t>GAMES</a:t>
            </a:r>
            <a:endParaRPr sz="600"/>
          </a:p>
        </p:txBody>
      </p:sp>
      <p:sp>
        <p:nvSpPr>
          <p:cNvPr id="61" name="Google Shape;61;p14"/>
          <p:cNvSpPr/>
          <p:nvPr/>
        </p:nvSpPr>
        <p:spPr>
          <a:xfrm>
            <a:off x="6433200" y="1484200"/>
            <a:ext cx="904500" cy="196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/>
              <a:t>PLAYERS</a:t>
            </a:r>
            <a:endParaRPr sz="600"/>
          </a:p>
        </p:txBody>
      </p:sp>
      <p:sp>
        <p:nvSpPr>
          <p:cNvPr id="62" name="Google Shape;62;p14"/>
          <p:cNvSpPr/>
          <p:nvPr/>
        </p:nvSpPr>
        <p:spPr>
          <a:xfrm>
            <a:off x="4214400" y="3190625"/>
            <a:ext cx="904500" cy="196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/>
              <a:t>PUBLISHERS</a:t>
            </a:r>
            <a:endParaRPr sz="600"/>
          </a:p>
        </p:txBody>
      </p:sp>
      <p:sp>
        <p:nvSpPr>
          <p:cNvPr id="63" name="Google Shape;63;p14"/>
          <p:cNvSpPr/>
          <p:nvPr/>
        </p:nvSpPr>
        <p:spPr>
          <a:xfrm>
            <a:off x="6433200" y="2335200"/>
            <a:ext cx="904500" cy="196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/>
              <a:t>ADDRESSES</a:t>
            </a:r>
            <a:endParaRPr sz="600"/>
          </a:p>
        </p:txBody>
      </p:sp>
      <p:sp>
        <p:nvSpPr>
          <p:cNvPr id="64" name="Google Shape;64;p14"/>
          <p:cNvSpPr/>
          <p:nvPr/>
        </p:nvSpPr>
        <p:spPr>
          <a:xfrm>
            <a:off x="6433200" y="3190625"/>
            <a:ext cx="904500" cy="196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/>
              <a:t>STREET_TYPES</a:t>
            </a:r>
            <a:endParaRPr sz="600"/>
          </a:p>
        </p:txBody>
      </p:sp>
      <p:sp>
        <p:nvSpPr>
          <p:cNvPr id="65" name="Google Shape;65;p14"/>
          <p:cNvSpPr/>
          <p:nvPr/>
        </p:nvSpPr>
        <p:spPr>
          <a:xfrm>
            <a:off x="8097900" y="2843713"/>
            <a:ext cx="904500" cy="196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/>
              <a:t>POSTAL_CODES</a:t>
            </a:r>
            <a:endParaRPr sz="600"/>
          </a:p>
        </p:txBody>
      </p:sp>
      <p:sp>
        <p:nvSpPr>
          <p:cNvPr id="66" name="Google Shape;66;p14"/>
          <p:cNvSpPr/>
          <p:nvPr/>
        </p:nvSpPr>
        <p:spPr>
          <a:xfrm>
            <a:off x="8097900" y="3699138"/>
            <a:ext cx="904500" cy="196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/>
              <a:t>CITIES</a:t>
            </a:r>
            <a:endParaRPr sz="600"/>
          </a:p>
        </p:txBody>
      </p:sp>
      <p:sp>
        <p:nvSpPr>
          <p:cNvPr id="67" name="Google Shape;67;p14"/>
          <p:cNvSpPr/>
          <p:nvPr/>
        </p:nvSpPr>
        <p:spPr>
          <a:xfrm>
            <a:off x="8097900" y="4584138"/>
            <a:ext cx="904500" cy="196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/>
              <a:t>COUNTRIES</a:t>
            </a:r>
            <a:endParaRPr sz="600"/>
          </a:p>
        </p:txBody>
      </p:sp>
      <p:sp>
        <p:nvSpPr>
          <p:cNvPr id="68" name="Google Shape;68;p14"/>
          <p:cNvSpPr/>
          <p:nvPr/>
        </p:nvSpPr>
        <p:spPr>
          <a:xfrm>
            <a:off x="4214400" y="1479775"/>
            <a:ext cx="904500" cy="196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/>
              <a:t>REVIEWS</a:t>
            </a:r>
            <a:endParaRPr sz="600"/>
          </a:p>
        </p:txBody>
      </p:sp>
      <p:sp>
        <p:nvSpPr>
          <p:cNvPr id="69" name="Google Shape;69;p14"/>
          <p:cNvSpPr/>
          <p:nvPr/>
        </p:nvSpPr>
        <p:spPr>
          <a:xfrm>
            <a:off x="1500900" y="1479775"/>
            <a:ext cx="904500" cy="196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/>
              <a:t>RELEASE_YEARS</a:t>
            </a:r>
            <a:endParaRPr sz="600"/>
          </a:p>
        </p:txBody>
      </p:sp>
      <p:sp>
        <p:nvSpPr>
          <p:cNvPr id="70" name="Google Shape;70;p14"/>
          <p:cNvSpPr/>
          <p:nvPr/>
        </p:nvSpPr>
        <p:spPr>
          <a:xfrm>
            <a:off x="141600" y="2335200"/>
            <a:ext cx="904500" cy="196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/>
              <a:t>PLATEFORMS</a:t>
            </a:r>
            <a:endParaRPr sz="600"/>
          </a:p>
        </p:txBody>
      </p:sp>
      <p:sp>
        <p:nvSpPr>
          <p:cNvPr id="71" name="Google Shape;71;p14"/>
          <p:cNvSpPr/>
          <p:nvPr/>
        </p:nvSpPr>
        <p:spPr>
          <a:xfrm>
            <a:off x="1500900" y="3190625"/>
            <a:ext cx="904500" cy="196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/>
              <a:t>GENRES</a:t>
            </a:r>
            <a:endParaRPr sz="600"/>
          </a:p>
        </p:txBody>
      </p:sp>
      <p:cxnSp>
        <p:nvCxnSpPr>
          <p:cNvPr id="72" name="Google Shape;72;p14"/>
          <p:cNvCxnSpPr>
            <a:stCxn id="73" idx="2"/>
            <a:endCxn id="70" idx="3"/>
          </p:cNvCxnSpPr>
          <p:nvPr/>
        </p:nvCxnSpPr>
        <p:spPr>
          <a:xfrm rot="10800000">
            <a:off x="1045988" y="2433300"/>
            <a:ext cx="259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" name="Google Shape;73;p14"/>
          <p:cNvSpPr/>
          <p:nvPr/>
        </p:nvSpPr>
        <p:spPr>
          <a:xfrm>
            <a:off x="1305788" y="2335200"/>
            <a:ext cx="772800" cy="1962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/>
              <a:t>play</a:t>
            </a:r>
            <a:endParaRPr sz="600"/>
          </a:p>
        </p:txBody>
      </p:sp>
      <p:cxnSp>
        <p:nvCxnSpPr>
          <p:cNvPr id="74" name="Google Shape;74;p14"/>
          <p:cNvCxnSpPr>
            <a:stCxn id="73" idx="6"/>
            <a:endCxn id="60" idx="1"/>
          </p:cNvCxnSpPr>
          <p:nvPr/>
        </p:nvCxnSpPr>
        <p:spPr>
          <a:xfrm>
            <a:off x="2078588" y="2433300"/>
            <a:ext cx="326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" name="Google Shape;75;p14"/>
          <p:cNvSpPr/>
          <p:nvPr/>
        </p:nvSpPr>
        <p:spPr>
          <a:xfrm>
            <a:off x="2471250" y="2762913"/>
            <a:ext cx="772800" cy="196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/>
              <a:t>appartient</a:t>
            </a:r>
            <a:endParaRPr sz="600"/>
          </a:p>
        </p:txBody>
      </p:sp>
      <p:cxnSp>
        <p:nvCxnSpPr>
          <p:cNvPr id="76" name="Google Shape;76;p14"/>
          <p:cNvCxnSpPr>
            <a:stCxn id="75" idx="4"/>
            <a:endCxn id="71" idx="3"/>
          </p:cNvCxnSpPr>
          <p:nvPr/>
        </p:nvCxnSpPr>
        <p:spPr>
          <a:xfrm flipH="1">
            <a:off x="2405550" y="2959113"/>
            <a:ext cx="452100" cy="32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" name="Google Shape;77;p14"/>
          <p:cNvCxnSpPr>
            <a:stCxn id="75" idx="0"/>
          </p:cNvCxnSpPr>
          <p:nvPr/>
        </p:nvCxnSpPr>
        <p:spPr>
          <a:xfrm>
            <a:off x="2857650" y="2762913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" name="Google Shape;78;p14"/>
          <p:cNvCxnSpPr>
            <a:stCxn id="60" idx="2"/>
            <a:endCxn id="75" idx="0"/>
          </p:cNvCxnSpPr>
          <p:nvPr/>
        </p:nvCxnSpPr>
        <p:spPr>
          <a:xfrm>
            <a:off x="2857650" y="2531400"/>
            <a:ext cx="0" cy="23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" name="Google Shape;79;p14"/>
          <p:cNvSpPr/>
          <p:nvPr/>
        </p:nvSpPr>
        <p:spPr>
          <a:xfrm>
            <a:off x="2471250" y="1907488"/>
            <a:ext cx="772800" cy="196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/>
              <a:t>appartient</a:t>
            </a:r>
            <a:endParaRPr sz="600"/>
          </a:p>
        </p:txBody>
      </p:sp>
      <p:cxnSp>
        <p:nvCxnSpPr>
          <p:cNvPr id="80" name="Google Shape;80;p14"/>
          <p:cNvCxnSpPr>
            <a:stCxn id="69" idx="3"/>
            <a:endCxn id="79" idx="0"/>
          </p:cNvCxnSpPr>
          <p:nvPr/>
        </p:nvCxnSpPr>
        <p:spPr>
          <a:xfrm>
            <a:off x="2405400" y="1577875"/>
            <a:ext cx="452400" cy="32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" name="Google Shape;81;p14"/>
          <p:cNvCxnSpPr>
            <a:stCxn id="79" idx="4"/>
            <a:endCxn id="60" idx="0"/>
          </p:cNvCxnSpPr>
          <p:nvPr/>
        </p:nvCxnSpPr>
        <p:spPr>
          <a:xfrm>
            <a:off x="2857650" y="2103688"/>
            <a:ext cx="0" cy="23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14"/>
          <p:cNvSpPr/>
          <p:nvPr/>
        </p:nvSpPr>
        <p:spPr>
          <a:xfrm>
            <a:off x="3375750" y="2762925"/>
            <a:ext cx="772800" cy="196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/>
              <a:t>publie</a:t>
            </a:r>
            <a:endParaRPr sz="600"/>
          </a:p>
        </p:txBody>
      </p:sp>
      <p:cxnSp>
        <p:nvCxnSpPr>
          <p:cNvPr id="83" name="Google Shape;83;p14"/>
          <p:cNvCxnSpPr>
            <a:stCxn id="60" idx="3"/>
            <a:endCxn id="82" idx="1"/>
          </p:cNvCxnSpPr>
          <p:nvPr/>
        </p:nvCxnSpPr>
        <p:spPr>
          <a:xfrm>
            <a:off x="3309900" y="2433300"/>
            <a:ext cx="179100" cy="35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" name="Google Shape;84;p14"/>
          <p:cNvCxnSpPr>
            <a:stCxn id="82" idx="5"/>
            <a:endCxn id="62" idx="1"/>
          </p:cNvCxnSpPr>
          <p:nvPr/>
        </p:nvCxnSpPr>
        <p:spPr>
          <a:xfrm>
            <a:off x="4035376" y="2930392"/>
            <a:ext cx="179100" cy="35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" name="Google Shape;85;p14"/>
          <p:cNvSpPr/>
          <p:nvPr/>
        </p:nvSpPr>
        <p:spPr>
          <a:xfrm>
            <a:off x="3375750" y="1907500"/>
            <a:ext cx="772800" cy="196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/>
              <a:t>note</a:t>
            </a:r>
            <a:endParaRPr sz="600"/>
          </a:p>
        </p:txBody>
      </p:sp>
      <p:cxnSp>
        <p:nvCxnSpPr>
          <p:cNvPr id="86" name="Google Shape;86;p14"/>
          <p:cNvCxnSpPr>
            <a:stCxn id="60" idx="3"/>
            <a:endCxn id="85" idx="3"/>
          </p:cNvCxnSpPr>
          <p:nvPr/>
        </p:nvCxnSpPr>
        <p:spPr>
          <a:xfrm flipH="1" rot="10800000">
            <a:off x="3309900" y="2075100"/>
            <a:ext cx="179100" cy="35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" name="Google Shape;87;p14"/>
          <p:cNvCxnSpPr>
            <a:stCxn id="85" idx="7"/>
            <a:endCxn id="68" idx="1"/>
          </p:cNvCxnSpPr>
          <p:nvPr/>
        </p:nvCxnSpPr>
        <p:spPr>
          <a:xfrm flipH="1" rot="10800000">
            <a:off x="4035376" y="1577733"/>
            <a:ext cx="179100" cy="35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" name="Google Shape;88;p14"/>
          <p:cNvSpPr/>
          <p:nvPr/>
        </p:nvSpPr>
        <p:spPr>
          <a:xfrm>
            <a:off x="5389638" y="1479775"/>
            <a:ext cx="772800" cy="196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/>
              <a:t>donne</a:t>
            </a:r>
            <a:endParaRPr sz="600"/>
          </a:p>
        </p:txBody>
      </p:sp>
      <p:cxnSp>
        <p:nvCxnSpPr>
          <p:cNvPr id="89" name="Google Shape;89;p14"/>
          <p:cNvCxnSpPr>
            <a:stCxn id="68" idx="3"/>
            <a:endCxn id="88" idx="2"/>
          </p:cNvCxnSpPr>
          <p:nvPr/>
        </p:nvCxnSpPr>
        <p:spPr>
          <a:xfrm>
            <a:off x="5118900" y="1577875"/>
            <a:ext cx="27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" name="Google Shape;90;p14"/>
          <p:cNvCxnSpPr>
            <a:stCxn id="88" idx="6"/>
            <a:endCxn id="61" idx="1"/>
          </p:cNvCxnSpPr>
          <p:nvPr/>
        </p:nvCxnSpPr>
        <p:spPr>
          <a:xfrm>
            <a:off x="6162438" y="1577875"/>
            <a:ext cx="270900" cy="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" name="Google Shape;91;p14"/>
          <p:cNvSpPr/>
          <p:nvPr/>
        </p:nvSpPr>
        <p:spPr>
          <a:xfrm>
            <a:off x="6499050" y="1907488"/>
            <a:ext cx="772800" cy="196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/>
              <a:t>possède</a:t>
            </a:r>
            <a:endParaRPr sz="600"/>
          </a:p>
        </p:txBody>
      </p:sp>
      <p:cxnSp>
        <p:nvCxnSpPr>
          <p:cNvPr id="92" name="Google Shape;92;p14"/>
          <p:cNvCxnSpPr>
            <a:stCxn id="61" idx="2"/>
            <a:endCxn id="91" idx="0"/>
          </p:cNvCxnSpPr>
          <p:nvPr/>
        </p:nvCxnSpPr>
        <p:spPr>
          <a:xfrm>
            <a:off x="6885450" y="1680400"/>
            <a:ext cx="0" cy="22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" name="Google Shape;93;p14"/>
          <p:cNvCxnSpPr>
            <a:stCxn id="91" idx="4"/>
            <a:endCxn id="63" idx="0"/>
          </p:cNvCxnSpPr>
          <p:nvPr/>
        </p:nvCxnSpPr>
        <p:spPr>
          <a:xfrm>
            <a:off x="6885450" y="2103688"/>
            <a:ext cx="0" cy="23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" name="Google Shape;94;p14"/>
          <p:cNvSpPr/>
          <p:nvPr/>
        </p:nvSpPr>
        <p:spPr>
          <a:xfrm>
            <a:off x="6500350" y="2762900"/>
            <a:ext cx="772800" cy="196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/>
              <a:t>defini</a:t>
            </a:r>
            <a:endParaRPr sz="600"/>
          </a:p>
        </p:txBody>
      </p:sp>
      <p:cxnSp>
        <p:nvCxnSpPr>
          <p:cNvPr id="95" name="Google Shape;95;p14"/>
          <p:cNvCxnSpPr>
            <a:stCxn id="63" idx="2"/>
            <a:endCxn id="94" idx="0"/>
          </p:cNvCxnSpPr>
          <p:nvPr/>
        </p:nvCxnSpPr>
        <p:spPr>
          <a:xfrm>
            <a:off x="6885450" y="2531400"/>
            <a:ext cx="1200" cy="23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" name="Google Shape;96;p14"/>
          <p:cNvCxnSpPr>
            <a:stCxn id="94" idx="4"/>
            <a:endCxn id="64" idx="0"/>
          </p:cNvCxnSpPr>
          <p:nvPr/>
        </p:nvCxnSpPr>
        <p:spPr>
          <a:xfrm flipH="1">
            <a:off x="6885550" y="2959100"/>
            <a:ext cx="1200" cy="23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" name="Google Shape;97;p14"/>
          <p:cNvSpPr/>
          <p:nvPr/>
        </p:nvSpPr>
        <p:spPr>
          <a:xfrm>
            <a:off x="8166350" y="3262613"/>
            <a:ext cx="772800" cy="1962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/>
              <a:t>defini</a:t>
            </a:r>
            <a:endParaRPr sz="600"/>
          </a:p>
        </p:txBody>
      </p:sp>
      <p:cxnSp>
        <p:nvCxnSpPr>
          <p:cNvPr id="98" name="Google Shape;98;p14"/>
          <p:cNvCxnSpPr>
            <a:stCxn id="65" idx="2"/>
            <a:endCxn id="97" idx="0"/>
          </p:cNvCxnSpPr>
          <p:nvPr/>
        </p:nvCxnSpPr>
        <p:spPr>
          <a:xfrm>
            <a:off x="8550150" y="3039913"/>
            <a:ext cx="2700" cy="22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" name="Google Shape;99;p14"/>
          <p:cNvCxnSpPr>
            <a:stCxn id="97" idx="4"/>
            <a:endCxn id="66" idx="0"/>
          </p:cNvCxnSpPr>
          <p:nvPr/>
        </p:nvCxnSpPr>
        <p:spPr>
          <a:xfrm flipH="1">
            <a:off x="8550050" y="3458813"/>
            <a:ext cx="2700" cy="24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" name="Google Shape;100;p14"/>
          <p:cNvSpPr/>
          <p:nvPr/>
        </p:nvSpPr>
        <p:spPr>
          <a:xfrm>
            <a:off x="8163750" y="4141638"/>
            <a:ext cx="772800" cy="196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/>
              <a:t>defini</a:t>
            </a:r>
            <a:endParaRPr sz="600"/>
          </a:p>
        </p:txBody>
      </p:sp>
      <p:cxnSp>
        <p:nvCxnSpPr>
          <p:cNvPr id="101" name="Google Shape;101;p14"/>
          <p:cNvCxnSpPr>
            <a:stCxn id="66" idx="2"/>
            <a:endCxn id="100" idx="0"/>
          </p:cNvCxnSpPr>
          <p:nvPr/>
        </p:nvCxnSpPr>
        <p:spPr>
          <a:xfrm>
            <a:off x="8550150" y="3895338"/>
            <a:ext cx="0" cy="24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" name="Google Shape;102;p14"/>
          <p:cNvCxnSpPr>
            <a:stCxn id="100" idx="4"/>
            <a:endCxn id="67" idx="0"/>
          </p:cNvCxnSpPr>
          <p:nvPr/>
        </p:nvCxnSpPr>
        <p:spPr>
          <a:xfrm>
            <a:off x="8550150" y="4337838"/>
            <a:ext cx="0" cy="24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" name="Google Shape;103;p14"/>
          <p:cNvSpPr/>
          <p:nvPr/>
        </p:nvSpPr>
        <p:spPr>
          <a:xfrm>
            <a:off x="8163738" y="2335200"/>
            <a:ext cx="772800" cy="196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/>
              <a:t>appartient</a:t>
            </a:r>
            <a:endParaRPr sz="600"/>
          </a:p>
        </p:txBody>
      </p:sp>
      <p:cxnSp>
        <p:nvCxnSpPr>
          <p:cNvPr id="104" name="Google Shape;104;p14"/>
          <p:cNvCxnSpPr>
            <a:stCxn id="103" idx="4"/>
            <a:endCxn id="65" idx="0"/>
          </p:cNvCxnSpPr>
          <p:nvPr/>
        </p:nvCxnSpPr>
        <p:spPr>
          <a:xfrm>
            <a:off x="8550138" y="2531400"/>
            <a:ext cx="0" cy="3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" name="Google Shape;105;p14"/>
          <p:cNvSpPr txBox="1"/>
          <p:nvPr/>
        </p:nvSpPr>
        <p:spPr>
          <a:xfrm>
            <a:off x="988162" y="2207327"/>
            <a:ext cx="34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2"/>
                </a:solidFill>
              </a:rPr>
              <a:t>1,n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2149037" y="2207327"/>
            <a:ext cx="34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2"/>
                </a:solidFill>
              </a:rPr>
              <a:t>1,n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2601287" y="2115602"/>
            <a:ext cx="34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2"/>
                </a:solidFill>
              </a:rPr>
              <a:t>1,1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2358586" y="1397701"/>
            <a:ext cx="34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2"/>
                </a:solidFill>
              </a:rPr>
              <a:t>0,n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2606290" y="2479092"/>
            <a:ext cx="34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2"/>
                </a:solidFill>
              </a:rPr>
              <a:t>1,1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2405290" y="3190642"/>
            <a:ext cx="34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2"/>
                </a:solidFill>
              </a:rPr>
              <a:t>1,n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0" y="0"/>
            <a:ext cx="309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BRIEF BDD - MCD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108762" y="2130052"/>
            <a:ext cx="34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2"/>
                </a:solidFill>
              </a:rPr>
              <a:t>0,n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3935262" y="1479752"/>
            <a:ext cx="34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2"/>
                </a:solidFill>
              </a:rPr>
              <a:t>1,1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5068168" y="1361408"/>
            <a:ext cx="34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2"/>
                </a:solidFill>
              </a:rPr>
              <a:t>1,1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6169993" y="1361408"/>
            <a:ext cx="34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2"/>
                </a:solidFill>
              </a:rPr>
              <a:t>0,n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3159425" y="2468007"/>
            <a:ext cx="34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2"/>
                </a:solidFill>
              </a:rPr>
              <a:t>1,1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3912556" y="3095144"/>
            <a:ext cx="34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2"/>
                </a:solidFill>
              </a:rPr>
              <a:t>1,n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6842806" y="1680389"/>
            <a:ext cx="34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2"/>
                </a:solidFill>
              </a:rPr>
              <a:t>1,1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6555112" y="2079739"/>
            <a:ext cx="34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2"/>
                </a:solidFill>
              </a:rPr>
              <a:t>0,n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120" name="Google Shape;120;p14"/>
          <p:cNvSpPr txBox="1"/>
          <p:nvPr/>
        </p:nvSpPr>
        <p:spPr>
          <a:xfrm>
            <a:off x="6900106" y="2479089"/>
            <a:ext cx="34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2"/>
                </a:solidFill>
              </a:rPr>
              <a:t>1,1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121" name="Google Shape;121;p14"/>
          <p:cNvSpPr txBox="1"/>
          <p:nvPr/>
        </p:nvSpPr>
        <p:spPr>
          <a:xfrm>
            <a:off x="6868306" y="2965989"/>
            <a:ext cx="34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2"/>
                </a:solidFill>
              </a:rPr>
              <a:t>0,n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7337694" y="2207314"/>
            <a:ext cx="34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2"/>
                </a:solidFill>
              </a:rPr>
              <a:t>1,1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123" name="Google Shape;123;p14"/>
          <p:cNvSpPr txBox="1"/>
          <p:nvPr/>
        </p:nvSpPr>
        <p:spPr>
          <a:xfrm>
            <a:off x="8257669" y="2596989"/>
            <a:ext cx="34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2"/>
                </a:solidFill>
              </a:rPr>
              <a:t>0,n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8272756" y="2985689"/>
            <a:ext cx="34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2"/>
                </a:solidFill>
              </a:rPr>
              <a:t>1,n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125" name="Google Shape;125;p14"/>
          <p:cNvSpPr txBox="1"/>
          <p:nvPr/>
        </p:nvSpPr>
        <p:spPr>
          <a:xfrm>
            <a:off x="8257669" y="3467421"/>
            <a:ext cx="34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2"/>
                </a:solidFill>
              </a:rPr>
              <a:t>1,n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126" name="Google Shape;126;p14"/>
          <p:cNvSpPr txBox="1"/>
          <p:nvPr/>
        </p:nvSpPr>
        <p:spPr>
          <a:xfrm>
            <a:off x="8257669" y="3864758"/>
            <a:ext cx="34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2"/>
                </a:solidFill>
              </a:rPr>
              <a:t>1,1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127" name="Google Shape;127;p14"/>
          <p:cNvSpPr txBox="1"/>
          <p:nvPr/>
        </p:nvSpPr>
        <p:spPr>
          <a:xfrm>
            <a:off x="8272744" y="4337883"/>
            <a:ext cx="34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2"/>
                </a:solidFill>
              </a:rPr>
              <a:t>1,n</a:t>
            </a:r>
            <a:endParaRPr sz="600">
              <a:solidFill>
                <a:schemeClr val="dk2"/>
              </a:solidFill>
            </a:endParaRPr>
          </a:p>
        </p:txBody>
      </p:sp>
      <p:cxnSp>
        <p:nvCxnSpPr>
          <p:cNvPr id="128" name="Google Shape;128;p14"/>
          <p:cNvCxnSpPr>
            <a:stCxn id="103" idx="2"/>
            <a:endCxn id="63" idx="3"/>
          </p:cNvCxnSpPr>
          <p:nvPr/>
        </p:nvCxnSpPr>
        <p:spPr>
          <a:xfrm rot="10800000">
            <a:off x="7337838" y="2433300"/>
            <a:ext cx="82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" name="Google Shape;129;p14"/>
          <p:cNvSpPr/>
          <p:nvPr/>
        </p:nvSpPr>
        <p:spPr>
          <a:xfrm>
            <a:off x="6434500" y="633800"/>
            <a:ext cx="904500" cy="196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/>
              <a:t>CONTACT</a:t>
            </a:r>
            <a:endParaRPr sz="600"/>
          </a:p>
        </p:txBody>
      </p:sp>
      <p:sp>
        <p:nvSpPr>
          <p:cNvPr id="130" name="Google Shape;130;p14"/>
          <p:cNvSpPr/>
          <p:nvPr/>
        </p:nvSpPr>
        <p:spPr>
          <a:xfrm>
            <a:off x="6499050" y="1058988"/>
            <a:ext cx="772800" cy="196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/>
              <a:t>possède</a:t>
            </a:r>
            <a:endParaRPr sz="600"/>
          </a:p>
        </p:txBody>
      </p:sp>
      <p:cxnSp>
        <p:nvCxnSpPr>
          <p:cNvPr id="131" name="Google Shape;131;p14"/>
          <p:cNvCxnSpPr>
            <a:endCxn id="130" idx="0"/>
          </p:cNvCxnSpPr>
          <p:nvPr/>
        </p:nvCxnSpPr>
        <p:spPr>
          <a:xfrm>
            <a:off x="6885450" y="831888"/>
            <a:ext cx="0" cy="22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14"/>
          <p:cNvCxnSpPr>
            <a:stCxn id="130" idx="4"/>
          </p:cNvCxnSpPr>
          <p:nvPr/>
        </p:nvCxnSpPr>
        <p:spPr>
          <a:xfrm>
            <a:off x="6885450" y="1255188"/>
            <a:ext cx="0" cy="23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" name="Google Shape;133;p14"/>
          <p:cNvSpPr txBox="1"/>
          <p:nvPr/>
        </p:nvSpPr>
        <p:spPr>
          <a:xfrm>
            <a:off x="6842806" y="1255189"/>
            <a:ext cx="34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2"/>
                </a:solidFill>
              </a:rPr>
              <a:t>1,1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134" name="Google Shape;134;p14"/>
          <p:cNvSpPr txBox="1"/>
          <p:nvPr/>
        </p:nvSpPr>
        <p:spPr>
          <a:xfrm>
            <a:off x="6842812" y="758589"/>
            <a:ext cx="34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2"/>
                </a:solidFill>
              </a:rPr>
              <a:t>0,n</a:t>
            </a:r>
            <a:endParaRPr sz="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/>
          <p:cNvSpPr txBox="1"/>
          <p:nvPr/>
        </p:nvSpPr>
        <p:spPr>
          <a:xfrm>
            <a:off x="0" y="0"/>
            <a:ext cx="309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BRIEF BDD - MLD</a:t>
            </a: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140" name="Google Shape;140;p15"/>
          <p:cNvGraphicFramePr/>
          <p:nvPr/>
        </p:nvGraphicFramePr>
        <p:xfrm>
          <a:off x="86725" y="634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{9AAF93FA-0D68-46EF-9903-B1C5A4C65717}</a:tableStyleId>
              </a:tblPr>
              <a:tblGrid>
                <a:gridCol w="1108375"/>
                <a:gridCol w="7685275"/>
              </a:tblGrid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Players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solidFill>
                            <a:srgbClr val="D86DCD"/>
                          </a:solidFill>
                        </a:rPr>
                        <a:t>id</a:t>
                      </a:r>
                      <a:r>
                        <a:rPr lang="fr" sz="700">
                          <a:solidFill>
                            <a:srgbClr val="D86DCD"/>
                          </a:solidFill>
                        </a:rPr>
                        <a:t> (INT), </a:t>
                      </a:r>
                      <a:r>
                        <a:rPr lang="fr" sz="700">
                          <a:solidFill>
                            <a:schemeClr val="dk1"/>
                          </a:solidFill>
                        </a:rPr>
                        <a:t>first_name</a:t>
                      </a:r>
                      <a:r>
                        <a:rPr lang="fr" sz="700"/>
                        <a:t> (VAR CHAR 50), last_name (VAR CHAR 50),</a:t>
                      </a:r>
                      <a:r>
                        <a:rPr lang="fr" sz="700">
                          <a:solidFill>
                            <a:srgbClr val="00B0F0"/>
                          </a:solidFill>
                        </a:rPr>
                        <a:t> contact_id(Contacts.id, INT), address_id(Addresses.id, INT),</a:t>
                      </a:r>
                      <a:r>
                        <a:rPr lang="fr" sz="700">
                          <a:solidFill>
                            <a:schemeClr val="dk1"/>
                          </a:solidFill>
                        </a:rPr>
                        <a:t> creation_date (DATE)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Addresses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solidFill>
                            <a:srgbClr val="D86DCD"/>
                          </a:solidFill>
                        </a:rPr>
                        <a:t>id</a:t>
                      </a:r>
                      <a:r>
                        <a:rPr lang="fr" sz="700">
                          <a:solidFill>
                            <a:srgbClr val="D86DCD"/>
                          </a:solidFill>
                        </a:rPr>
                        <a:t> (INT), </a:t>
                      </a:r>
                      <a:r>
                        <a:rPr lang="fr" sz="700">
                          <a:solidFill>
                            <a:schemeClr val="dk1"/>
                          </a:solidFill>
                        </a:rPr>
                        <a:t>address_number</a:t>
                      </a:r>
                      <a:r>
                        <a:rPr lang="fr" sz="700">
                          <a:solidFill>
                            <a:schemeClr val="dk1"/>
                          </a:solidFill>
                        </a:rPr>
                        <a:t> (VARCHAR 5),</a:t>
                      </a:r>
                      <a:r>
                        <a:rPr lang="fr" sz="700">
                          <a:solidFill>
                            <a:srgbClr val="D86DCD"/>
                          </a:solidFill>
                        </a:rPr>
                        <a:t> </a:t>
                      </a:r>
                      <a:r>
                        <a:rPr lang="fr" sz="700">
                          <a:solidFill>
                            <a:srgbClr val="00B0F0"/>
                          </a:solidFill>
                        </a:rPr>
                        <a:t>street_type_id</a:t>
                      </a:r>
                      <a:r>
                        <a:rPr lang="fr" sz="700">
                          <a:solidFill>
                            <a:srgbClr val="00B0F0"/>
                          </a:solidFill>
                        </a:rPr>
                        <a:t>(Street_types.id, INT),</a:t>
                      </a:r>
                      <a:r>
                        <a:rPr lang="fr" sz="700">
                          <a:solidFill>
                            <a:srgbClr val="D86DCD"/>
                          </a:solidFill>
                        </a:rPr>
                        <a:t> </a:t>
                      </a:r>
                      <a:r>
                        <a:rPr lang="fr" sz="700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lang="fr" sz="700">
                          <a:solidFill>
                            <a:schemeClr val="dk1"/>
                          </a:solidFill>
                        </a:rPr>
                        <a:t>treet_name(VARCHAR 100),</a:t>
                      </a:r>
                      <a:r>
                        <a:rPr lang="fr" sz="700">
                          <a:solidFill>
                            <a:srgbClr val="D86DCD"/>
                          </a:solidFill>
                        </a:rPr>
                        <a:t> </a:t>
                      </a:r>
                      <a:r>
                        <a:rPr lang="fr" sz="700">
                          <a:solidFill>
                            <a:srgbClr val="00B0F0"/>
                          </a:solidFill>
                        </a:rPr>
                        <a:t>postal_code_id</a:t>
                      </a:r>
                      <a:r>
                        <a:rPr lang="fr" sz="700">
                          <a:solidFill>
                            <a:srgbClr val="00B0F0"/>
                          </a:solidFill>
                        </a:rPr>
                        <a:t>(Postal_codes.id, INT)</a:t>
                      </a:r>
                      <a:endParaRPr sz="700">
                        <a:solidFill>
                          <a:srgbClr val="00B0F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Street_types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solidFill>
                            <a:srgbClr val="D86DCD"/>
                          </a:solidFill>
                        </a:rPr>
                        <a:t>id </a:t>
                      </a:r>
                      <a:r>
                        <a:rPr lang="fr" sz="700">
                          <a:solidFill>
                            <a:srgbClr val="D86DCD"/>
                          </a:solidFill>
                        </a:rPr>
                        <a:t>(INT), </a:t>
                      </a:r>
                      <a:r>
                        <a:rPr lang="fr" sz="600">
                          <a:solidFill>
                            <a:schemeClr val="dk1"/>
                          </a:solidFill>
                        </a:rPr>
                        <a:t>street_type_name</a:t>
                      </a:r>
                      <a:r>
                        <a:rPr lang="fr" sz="700">
                          <a:solidFill>
                            <a:schemeClr val="dk1"/>
                          </a:solidFill>
                        </a:rPr>
                        <a:t>(VARCHAR 20)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Postal_codes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solidFill>
                            <a:srgbClr val="D86DCD"/>
                          </a:solidFill>
                        </a:rPr>
                        <a:t>id </a:t>
                      </a:r>
                      <a:r>
                        <a:rPr lang="fr" sz="700">
                          <a:solidFill>
                            <a:srgbClr val="D86DCD"/>
                          </a:solidFill>
                        </a:rPr>
                        <a:t>(INT), </a:t>
                      </a:r>
                      <a:r>
                        <a:rPr lang="fr" sz="600">
                          <a:solidFill>
                            <a:schemeClr val="dk1"/>
                          </a:solidFill>
                        </a:rPr>
                        <a:t>postal_code_value</a:t>
                      </a:r>
                      <a:r>
                        <a:rPr lang="fr" sz="700">
                          <a:solidFill>
                            <a:schemeClr val="dk1"/>
                          </a:solidFill>
                        </a:rPr>
                        <a:t>(VARCHAR 10 NON NULL)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City_pc_ corresps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solidFill>
                            <a:srgbClr val="D86DCD"/>
                          </a:solidFill>
                        </a:rPr>
                        <a:t>id </a:t>
                      </a:r>
                      <a:r>
                        <a:rPr lang="fr" sz="700">
                          <a:solidFill>
                            <a:srgbClr val="D86DCD"/>
                          </a:solidFill>
                        </a:rPr>
                        <a:t>(INT), </a:t>
                      </a:r>
                      <a:r>
                        <a:rPr lang="fr" sz="700">
                          <a:solidFill>
                            <a:srgbClr val="00B0F0"/>
                          </a:solidFill>
                        </a:rPr>
                        <a:t>postal_code</a:t>
                      </a:r>
                      <a:r>
                        <a:rPr lang="fr" sz="700">
                          <a:solidFill>
                            <a:srgbClr val="00B0F0"/>
                          </a:solidFill>
                        </a:rPr>
                        <a:t>_id</a:t>
                      </a:r>
                      <a:r>
                        <a:rPr lang="fr" sz="700">
                          <a:solidFill>
                            <a:srgbClr val="00B0F0"/>
                          </a:solidFill>
                        </a:rPr>
                        <a:t>(Postal_codes.id, INT)</a:t>
                      </a:r>
                      <a:r>
                        <a:rPr lang="fr" sz="700">
                          <a:solidFill>
                            <a:srgbClr val="00B0F0"/>
                          </a:solidFill>
                        </a:rPr>
                        <a:t>, city_id(Cities.id, INT)</a:t>
                      </a:r>
                      <a:endParaRPr sz="700">
                        <a:solidFill>
                          <a:srgbClr val="00B0F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Cities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solidFill>
                            <a:srgbClr val="D86DCD"/>
                          </a:solidFill>
                        </a:rPr>
                        <a:t>id </a:t>
                      </a:r>
                      <a:r>
                        <a:rPr lang="fr" sz="700">
                          <a:solidFill>
                            <a:srgbClr val="D86DCD"/>
                          </a:solidFill>
                        </a:rPr>
                        <a:t>(INT), </a:t>
                      </a:r>
                      <a:r>
                        <a:rPr lang="fr" sz="700">
                          <a:solidFill>
                            <a:schemeClr val="dk1"/>
                          </a:solidFill>
                        </a:rPr>
                        <a:t>c</a:t>
                      </a:r>
                      <a:r>
                        <a:rPr lang="fr" sz="700">
                          <a:solidFill>
                            <a:schemeClr val="dk1"/>
                          </a:solidFill>
                        </a:rPr>
                        <a:t>ity_name(VARCHAR 50), </a:t>
                      </a:r>
                      <a:r>
                        <a:rPr lang="fr" sz="700">
                          <a:solidFill>
                            <a:srgbClr val="00B0F0"/>
                          </a:solidFill>
                        </a:rPr>
                        <a:t>COUNTRY_ID(COUNTRIES.ID, INT)</a:t>
                      </a:r>
                      <a:endParaRPr sz="700">
                        <a:solidFill>
                          <a:srgbClr val="00B0F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Countries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solidFill>
                            <a:srgbClr val="D86DCD"/>
                          </a:solidFill>
                        </a:rPr>
                        <a:t>id </a:t>
                      </a:r>
                      <a:r>
                        <a:rPr lang="fr" sz="700">
                          <a:solidFill>
                            <a:srgbClr val="D86DCD"/>
                          </a:solidFill>
                        </a:rPr>
                        <a:t>(INT), </a:t>
                      </a:r>
                      <a:r>
                        <a:rPr lang="fr" sz="700">
                          <a:solidFill>
                            <a:schemeClr val="dk1"/>
                          </a:solidFill>
                        </a:rPr>
                        <a:t>country_name</a:t>
                      </a:r>
                      <a:r>
                        <a:rPr lang="fr" sz="700">
                          <a:solidFill>
                            <a:schemeClr val="dk1"/>
                          </a:solidFill>
                        </a:rPr>
                        <a:t>(VARCHAR 50)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Contacts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solidFill>
                            <a:srgbClr val="D86DCD"/>
                          </a:solidFill>
                        </a:rPr>
                        <a:t>id </a:t>
                      </a:r>
                      <a:r>
                        <a:rPr lang="fr" sz="700">
                          <a:solidFill>
                            <a:srgbClr val="D86DCD"/>
                          </a:solidFill>
                        </a:rPr>
                        <a:t>(INT), </a:t>
                      </a:r>
                      <a:r>
                        <a:rPr lang="fr" sz="700">
                          <a:solidFill>
                            <a:schemeClr val="dk1"/>
                          </a:solidFill>
                        </a:rPr>
                        <a:t> email (VAR CHAR 255 NON NULL), mobile_phone (VARCHAR 20)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2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Reviews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solidFill>
                            <a:srgbClr val="D86DCD"/>
                          </a:solidFill>
                        </a:rPr>
                        <a:t>id </a:t>
                      </a:r>
                      <a:r>
                        <a:rPr lang="fr" sz="700">
                          <a:solidFill>
                            <a:srgbClr val="D86DCD"/>
                          </a:solidFill>
                        </a:rPr>
                        <a:t>(INT),</a:t>
                      </a:r>
                      <a:r>
                        <a:rPr lang="fr" sz="700">
                          <a:solidFill>
                            <a:srgbClr val="00B0F0"/>
                          </a:solidFill>
                        </a:rPr>
                        <a:t> player_id(Players.id, INT), game_id(Games.id, INT)</a:t>
                      </a:r>
                      <a:r>
                        <a:rPr lang="fr" sz="700">
                          <a:solidFill>
                            <a:srgbClr val="D86DCD"/>
                          </a:solidFill>
                        </a:rPr>
                        <a:t>, </a:t>
                      </a:r>
                      <a:r>
                        <a:rPr lang="fr" sz="700">
                          <a:solidFill>
                            <a:schemeClr val="dk1"/>
                          </a:solidFill>
                        </a:rPr>
                        <a:t>review_score</a:t>
                      </a:r>
                      <a:r>
                        <a:rPr lang="fr" sz="700">
                          <a:solidFill>
                            <a:schemeClr val="dk1"/>
                          </a:solidFill>
                        </a:rPr>
                        <a:t> (INT)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5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Games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solidFill>
                            <a:srgbClr val="D86DCD"/>
                          </a:solidFill>
                        </a:rPr>
                        <a:t>id </a:t>
                      </a:r>
                      <a:r>
                        <a:rPr lang="fr" sz="700">
                          <a:solidFill>
                            <a:srgbClr val="D86DCD"/>
                          </a:solidFill>
                        </a:rPr>
                        <a:t>(INT), </a:t>
                      </a:r>
                      <a:r>
                        <a:rPr lang="fr" sz="700">
                          <a:solidFill>
                            <a:schemeClr val="dk1"/>
                          </a:solidFill>
                        </a:rPr>
                        <a:t>game_name</a:t>
                      </a:r>
                      <a:r>
                        <a:rPr lang="fr" sz="700">
                          <a:solidFill>
                            <a:schemeClr val="dk1"/>
                          </a:solidFill>
                        </a:rPr>
                        <a:t>(VARCHAR 50),</a:t>
                      </a:r>
                      <a:r>
                        <a:rPr lang="fr" sz="700">
                          <a:solidFill>
                            <a:srgbClr val="00B0F0"/>
                          </a:solidFill>
                        </a:rPr>
                        <a:t>release_year_id</a:t>
                      </a:r>
                      <a:r>
                        <a:rPr lang="fr" sz="700">
                          <a:solidFill>
                            <a:srgbClr val="00B0F0"/>
                          </a:solidFill>
                        </a:rPr>
                        <a:t>(Release_years.id, INT), publisher_id (Publishers.id, INT), genre_id (Genres.id, INT)</a:t>
                      </a:r>
                      <a:endParaRPr sz="700">
                        <a:solidFill>
                          <a:srgbClr val="00B0F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Release_years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solidFill>
                            <a:srgbClr val="D86DCD"/>
                          </a:solidFill>
                        </a:rPr>
                        <a:t>id</a:t>
                      </a:r>
                      <a:r>
                        <a:rPr lang="fr" sz="700">
                          <a:solidFill>
                            <a:srgbClr val="D86DCD"/>
                          </a:solidFill>
                        </a:rPr>
                        <a:t>(INT), </a:t>
                      </a:r>
                      <a:r>
                        <a:rPr lang="fr" sz="700">
                          <a:solidFill>
                            <a:schemeClr val="dk1"/>
                          </a:solidFill>
                        </a:rPr>
                        <a:t>release_year</a:t>
                      </a:r>
                      <a:r>
                        <a:rPr lang="fr" sz="700">
                          <a:solidFill>
                            <a:schemeClr val="dk1"/>
                          </a:solidFill>
                        </a:rPr>
                        <a:t>(VARCHAR 4)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Publishers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solidFill>
                            <a:srgbClr val="D86DCD"/>
                          </a:solidFill>
                        </a:rPr>
                        <a:t>id</a:t>
                      </a:r>
                      <a:r>
                        <a:rPr lang="fr" sz="700">
                          <a:solidFill>
                            <a:srgbClr val="D86DCD"/>
                          </a:solidFill>
                        </a:rPr>
                        <a:t>(INT), </a:t>
                      </a:r>
                      <a:r>
                        <a:rPr lang="fr" sz="700">
                          <a:solidFill>
                            <a:schemeClr val="dk1"/>
                          </a:solidFill>
                        </a:rPr>
                        <a:t>publisher_name</a:t>
                      </a:r>
                      <a:r>
                        <a:rPr lang="fr" sz="700">
                          <a:solidFill>
                            <a:schemeClr val="dk1"/>
                          </a:solidFill>
                        </a:rPr>
                        <a:t>(VARCHAR 50)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Platforms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solidFill>
                            <a:srgbClr val="D86DCD"/>
                          </a:solidFill>
                        </a:rPr>
                        <a:t>id</a:t>
                      </a:r>
                      <a:r>
                        <a:rPr lang="fr" sz="700">
                          <a:solidFill>
                            <a:srgbClr val="D86DCD"/>
                          </a:solidFill>
                        </a:rPr>
                        <a:t>(INT), </a:t>
                      </a:r>
                      <a:r>
                        <a:rPr lang="fr" sz="700">
                          <a:solidFill>
                            <a:schemeClr val="dk1"/>
                          </a:solidFill>
                        </a:rPr>
                        <a:t>platform_name</a:t>
                      </a:r>
                      <a:r>
                        <a:rPr lang="fr" sz="700">
                          <a:solidFill>
                            <a:schemeClr val="dk1"/>
                          </a:solidFill>
                        </a:rPr>
                        <a:t>(VARCHAR 50)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GamesPlatforms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solidFill>
                            <a:srgbClr val="D86DCD"/>
                          </a:solidFill>
                        </a:rPr>
                        <a:t>id(INT), </a:t>
                      </a:r>
                      <a:r>
                        <a:rPr lang="fr" sz="700">
                          <a:solidFill>
                            <a:srgbClr val="00B0F0"/>
                          </a:solidFill>
                        </a:rPr>
                        <a:t>platform_id (</a:t>
                      </a:r>
                      <a:r>
                        <a:rPr lang="fr" sz="700">
                          <a:solidFill>
                            <a:srgbClr val="00B0F0"/>
                          </a:solidFill>
                          <a:uFill>
                            <a:noFill/>
                          </a:uFill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Platforms.id</a:t>
                      </a:r>
                      <a:r>
                        <a:rPr lang="fr" sz="700">
                          <a:solidFill>
                            <a:srgbClr val="00B0F0"/>
                          </a:solidFill>
                        </a:rPr>
                        <a:t>, int), game_id (</a:t>
                      </a:r>
                      <a:r>
                        <a:rPr lang="fr" sz="700">
                          <a:solidFill>
                            <a:srgbClr val="00B0F0"/>
                          </a:solidFill>
                          <a:uFill>
                            <a:noFill/>
                          </a:uFill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Games.id</a:t>
                      </a:r>
                      <a:r>
                        <a:rPr lang="fr" sz="700">
                          <a:solidFill>
                            <a:srgbClr val="00B0F0"/>
                          </a:solidFill>
                        </a:rPr>
                        <a:t>, int), </a:t>
                      </a:r>
                      <a:r>
                        <a:rPr lang="fr" sz="700">
                          <a:solidFill>
                            <a:schemeClr val="dk1"/>
                          </a:solidFill>
                        </a:rPr>
                        <a:t> NA_sales(DECIMAL[6,2]), EU_sales(DECIMAL[6,2]), JP_sales(DECIMAL[6,2]), other_sales(DECIMAL[6,2]),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 sz="700">
                          <a:solidFill>
                            <a:schemeClr val="dk1"/>
                          </a:solidFill>
                        </a:rPr>
                        <a:t>global_sales(DECIMAL[6,2]), </a:t>
                      </a:r>
                      <a:endParaRPr sz="700">
                        <a:solidFill>
                          <a:srgbClr val="00B0F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Genres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solidFill>
                            <a:srgbClr val="D86DCD"/>
                          </a:solidFill>
                        </a:rPr>
                        <a:t>id</a:t>
                      </a:r>
                      <a:r>
                        <a:rPr lang="fr" sz="700">
                          <a:solidFill>
                            <a:srgbClr val="D86DCD"/>
                          </a:solidFill>
                        </a:rPr>
                        <a:t>(INT), </a:t>
                      </a:r>
                      <a:r>
                        <a:rPr lang="fr" sz="700">
                          <a:solidFill>
                            <a:schemeClr val="dk1"/>
                          </a:solidFill>
                        </a:rPr>
                        <a:t>genre_name</a:t>
                      </a:r>
                      <a:r>
                        <a:rPr lang="fr" sz="700">
                          <a:solidFill>
                            <a:schemeClr val="dk1"/>
                          </a:solidFill>
                        </a:rPr>
                        <a:t>(VARCHAR 50)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solidFill>
                            <a:srgbClr val="D86DCD"/>
                          </a:solidFill>
                        </a:rPr>
                        <a:t>PRIMARY KEY</a:t>
                      </a:r>
                      <a:endParaRPr sz="700">
                        <a:solidFill>
                          <a:srgbClr val="D86DCD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solidFill>
                            <a:srgbClr val="00B0F0"/>
                          </a:solidFill>
                        </a:rPr>
                        <a:t>FOREIGN KEY</a:t>
                      </a:r>
                      <a:endParaRPr sz="700">
                        <a:solidFill>
                          <a:srgbClr val="00B0F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b">
                    <a:lnL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 txBox="1"/>
          <p:nvPr/>
        </p:nvSpPr>
        <p:spPr>
          <a:xfrm>
            <a:off x="0" y="0"/>
            <a:ext cx="144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BRIEF BDD - MPD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1810388" y="1537279"/>
            <a:ext cx="1440000" cy="1260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/>
              <a:t>Games</a:t>
            </a:r>
            <a:endParaRPr b="1" sz="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1"/>
                </a:solidFill>
              </a:rPr>
              <a:t>#id - PK int AO</a:t>
            </a:r>
            <a:endParaRPr sz="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/>
              <a:t>game_name - VARCHAR(50) </a:t>
            </a:r>
            <a:endParaRPr sz="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/>
              <a:t>#release_year_id - FK int </a:t>
            </a:r>
            <a:endParaRPr sz="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/>
              <a:t>#publisher_id</a:t>
            </a:r>
            <a:r>
              <a:rPr lang="fr" sz="600">
                <a:solidFill>
                  <a:schemeClr val="dk1"/>
                </a:solidFill>
              </a:rPr>
              <a:t> - FK</a:t>
            </a:r>
            <a:r>
              <a:rPr lang="fr" sz="600"/>
              <a:t> int</a:t>
            </a:r>
            <a:endParaRPr sz="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/>
              <a:t> #platform_id</a:t>
            </a:r>
            <a:r>
              <a:rPr lang="fr" sz="600">
                <a:solidFill>
                  <a:schemeClr val="dk1"/>
                </a:solidFill>
              </a:rPr>
              <a:t> - FK</a:t>
            </a:r>
            <a:r>
              <a:rPr lang="fr" sz="600"/>
              <a:t> int </a:t>
            </a:r>
            <a:endParaRPr sz="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/>
              <a:t>#genre_id - FK int</a:t>
            </a:r>
            <a:endParaRPr sz="600"/>
          </a:p>
        </p:txBody>
      </p:sp>
      <p:sp>
        <p:nvSpPr>
          <p:cNvPr id="147" name="Google Shape;147;p16"/>
          <p:cNvSpPr/>
          <p:nvPr/>
        </p:nvSpPr>
        <p:spPr>
          <a:xfrm>
            <a:off x="5540308" y="1537579"/>
            <a:ext cx="1440000" cy="1260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/>
              <a:t>Players</a:t>
            </a:r>
            <a:endParaRPr b="1" sz="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1"/>
                </a:solidFill>
              </a:rPr>
              <a:t>#id - PK int AO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1"/>
                </a:solidFill>
              </a:rPr>
              <a:t>uuid - VARCHAR(36) NN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/>
              <a:t> first_name - VAR CHAR(50) last_name - VAR CHAR(50) #contact_id - FK int </a:t>
            </a:r>
            <a:endParaRPr sz="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1"/>
                </a:solidFill>
              </a:rPr>
              <a:t>#</a:t>
            </a:r>
            <a:r>
              <a:rPr lang="fr" sz="600"/>
              <a:t>address_id</a:t>
            </a:r>
            <a:r>
              <a:rPr lang="fr" sz="600"/>
              <a:t> </a:t>
            </a:r>
            <a:r>
              <a:rPr lang="fr" sz="600">
                <a:solidFill>
                  <a:schemeClr val="dk1"/>
                </a:solidFill>
              </a:rPr>
              <a:t>- FK int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/>
              <a:t>creation_date</a:t>
            </a:r>
            <a:r>
              <a:rPr lang="fr" sz="600"/>
              <a:t> - DATE</a:t>
            </a:r>
            <a:endParaRPr sz="600"/>
          </a:p>
        </p:txBody>
      </p:sp>
      <p:sp>
        <p:nvSpPr>
          <p:cNvPr id="148" name="Google Shape;148;p16"/>
          <p:cNvSpPr/>
          <p:nvPr/>
        </p:nvSpPr>
        <p:spPr>
          <a:xfrm>
            <a:off x="3037893" y="3248129"/>
            <a:ext cx="1620000" cy="540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/>
              <a:t>Publishers</a:t>
            </a:r>
            <a:endParaRPr b="1" sz="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1"/>
                </a:solidFill>
              </a:rPr>
              <a:t>#id - PK int AO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1"/>
                </a:solidFill>
              </a:rPr>
              <a:t>publisher_name  - VARCHAR(50)</a:t>
            </a:r>
            <a:endParaRPr sz="600"/>
          </a:p>
        </p:txBody>
      </p:sp>
      <p:sp>
        <p:nvSpPr>
          <p:cNvPr id="149" name="Google Shape;149;p16"/>
          <p:cNvSpPr/>
          <p:nvPr/>
        </p:nvSpPr>
        <p:spPr>
          <a:xfrm>
            <a:off x="5540308" y="3248129"/>
            <a:ext cx="1440000" cy="720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/>
              <a:t>Addresses</a:t>
            </a:r>
            <a:endParaRPr b="1" sz="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1"/>
                </a:solidFill>
              </a:rPr>
              <a:t>#id - PK int AO</a:t>
            </a:r>
            <a:r>
              <a:rPr lang="fr" sz="600"/>
              <a:t> </a:t>
            </a:r>
            <a:endParaRPr sz="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/>
              <a:t>address_number - VARCHAR(5), </a:t>
            </a:r>
            <a:endParaRPr sz="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/>
              <a:t>#street_type_id - FK int, </a:t>
            </a:r>
            <a:endParaRPr sz="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/>
              <a:t>street_name - VARCHAR(100) </a:t>
            </a:r>
            <a:endParaRPr sz="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/>
              <a:t>#postal_code_id - FK int</a:t>
            </a:r>
            <a:endParaRPr sz="600"/>
          </a:p>
        </p:txBody>
      </p:sp>
      <p:sp>
        <p:nvSpPr>
          <p:cNvPr id="150" name="Google Shape;150;p16"/>
          <p:cNvSpPr/>
          <p:nvPr/>
        </p:nvSpPr>
        <p:spPr>
          <a:xfrm>
            <a:off x="3920308" y="4419054"/>
            <a:ext cx="1620000" cy="540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/>
              <a:t>Street_types</a:t>
            </a:r>
            <a:endParaRPr b="1" sz="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1"/>
                </a:solidFill>
              </a:rPr>
              <a:t>#id - PK int AO 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/>
              <a:t>street_type_name</a:t>
            </a:r>
            <a:r>
              <a:rPr lang="fr" sz="600"/>
              <a:t> - VARCHAR(20)</a:t>
            </a:r>
            <a:endParaRPr sz="600"/>
          </a:p>
        </p:txBody>
      </p:sp>
      <p:sp>
        <p:nvSpPr>
          <p:cNvPr id="151" name="Google Shape;151;p16"/>
          <p:cNvSpPr/>
          <p:nvPr/>
        </p:nvSpPr>
        <p:spPr>
          <a:xfrm>
            <a:off x="7228294" y="4419054"/>
            <a:ext cx="1800000" cy="540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/>
              <a:t>Postal_codes</a:t>
            </a:r>
            <a:endParaRPr b="1" sz="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1"/>
                </a:solidFill>
              </a:rPr>
              <a:t>#id - PK int AO </a:t>
            </a:r>
            <a:endParaRPr sz="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/>
              <a:t>postal_code_value - VARCHAR(10) NN </a:t>
            </a:r>
            <a:endParaRPr sz="600"/>
          </a:p>
        </p:txBody>
      </p:sp>
      <p:sp>
        <p:nvSpPr>
          <p:cNvPr id="152" name="Google Shape;152;p16"/>
          <p:cNvSpPr/>
          <p:nvPr/>
        </p:nvSpPr>
        <p:spPr>
          <a:xfrm>
            <a:off x="7408594" y="2257604"/>
            <a:ext cx="1440000" cy="540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/>
              <a:t>Cities</a:t>
            </a:r>
            <a:endParaRPr b="1" sz="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1"/>
                </a:solidFill>
              </a:rPr>
              <a:t>#id - PK int AO </a:t>
            </a:r>
            <a:endParaRPr sz="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/>
              <a:t>city_name - VARCHAR(50), #country_id - FK int</a:t>
            </a:r>
            <a:endParaRPr sz="600"/>
          </a:p>
        </p:txBody>
      </p:sp>
      <p:sp>
        <p:nvSpPr>
          <p:cNvPr id="153" name="Google Shape;153;p16"/>
          <p:cNvSpPr/>
          <p:nvPr/>
        </p:nvSpPr>
        <p:spPr>
          <a:xfrm>
            <a:off x="7408594" y="1086704"/>
            <a:ext cx="1440000" cy="540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/>
              <a:t>Countries</a:t>
            </a:r>
            <a:endParaRPr b="1" sz="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1"/>
                </a:solidFill>
              </a:rPr>
              <a:t>#id - PK int AO</a:t>
            </a:r>
            <a:endParaRPr sz="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/>
              <a:t>country_name  - VARCHAR(50)</a:t>
            </a:r>
            <a:endParaRPr sz="600"/>
          </a:p>
        </p:txBody>
      </p:sp>
      <p:sp>
        <p:nvSpPr>
          <p:cNvPr id="154" name="Google Shape;154;p16"/>
          <p:cNvSpPr/>
          <p:nvPr/>
        </p:nvSpPr>
        <p:spPr>
          <a:xfrm>
            <a:off x="3568993" y="1897579"/>
            <a:ext cx="1440000" cy="540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/>
              <a:t>Reviews</a:t>
            </a:r>
            <a:endParaRPr b="1" sz="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1"/>
                </a:solidFill>
              </a:rPr>
              <a:t>#ID - PK int AO</a:t>
            </a:r>
            <a:endParaRPr sz="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/>
              <a:t>#player_id - FK int</a:t>
            </a:r>
            <a:endParaRPr sz="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/>
              <a:t>#game_id - FK int</a:t>
            </a:r>
            <a:endParaRPr sz="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/>
              <a:t>review_score - int</a:t>
            </a:r>
            <a:endParaRPr sz="600"/>
          </a:p>
        </p:txBody>
      </p:sp>
      <p:sp>
        <p:nvSpPr>
          <p:cNvPr id="155" name="Google Shape;155;p16"/>
          <p:cNvSpPr/>
          <p:nvPr/>
        </p:nvSpPr>
        <p:spPr>
          <a:xfrm>
            <a:off x="143239" y="1897279"/>
            <a:ext cx="1440000" cy="540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/>
              <a:t>Release_years</a:t>
            </a:r>
            <a:endParaRPr b="1" sz="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1"/>
                </a:solidFill>
              </a:rPr>
              <a:t>#id - PK int AO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1"/>
                </a:solidFill>
              </a:rPr>
              <a:t>release_year  - VARCHAR(4)</a:t>
            </a:r>
            <a:endParaRPr sz="600"/>
          </a:p>
        </p:txBody>
      </p:sp>
      <p:sp>
        <p:nvSpPr>
          <p:cNvPr id="156" name="Google Shape;156;p16"/>
          <p:cNvSpPr/>
          <p:nvPr/>
        </p:nvSpPr>
        <p:spPr>
          <a:xfrm>
            <a:off x="3690000" y="461700"/>
            <a:ext cx="1620000" cy="540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/>
              <a:t>Platforms</a:t>
            </a:r>
            <a:endParaRPr b="1" sz="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/>
              <a:t>#id - PK int AO</a:t>
            </a:r>
            <a:endParaRPr sz="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/>
              <a:t>platform_name - VARCHAR(50)</a:t>
            </a:r>
            <a:endParaRPr sz="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57" name="Google Shape;157;p16"/>
          <p:cNvSpPr/>
          <p:nvPr/>
        </p:nvSpPr>
        <p:spPr>
          <a:xfrm>
            <a:off x="217189" y="3255404"/>
            <a:ext cx="1440000" cy="540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/>
              <a:t>Genres</a:t>
            </a:r>
            <a:endParaRPr b="1" sz="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1"/>
                </a:solidFill>
              </a:rPr>
              <a:t>#id - PK int AO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1"/>
                </a:solidFill>
              </a:rPr>
              <a:t>genre_name - VARCHAR(50)</a:t>
            </a:r>
            <a:endParaRPr sz="600"/>
          </a:p>
        </p:txBody>
      </p:sp>
      <p:sp>
        <p:nvSpPr>
          <p:cNvPr id="158" name="Google Shape;158;p16"/>
          <p:cNvSpPr/>
          <p:nvPr/>
        </p:nvSpPr>
        <p:spPr>
          <a:xfrm>
            <a:off x="7408294" y="3428492"/>
            <a:ext cx="1440000" cy="540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/>
              <a:t>City_pc_ corresps</a:t>
            </a:r>
            <a:endParaRPr b="1"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1"/>
                </a:solidFill>
              </a:rPr>
              <a:t>#id - PK int AO 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1"/>
                </a:solidFill>
              </a:rPr>
              <a:t>#</a:t>
            </a:r>
            <a:r>
              <a:rPr lang="fr" sz="600"/>
              <a:t>postal_code_id</a:t>
            </a:r>
            <a:r>
              <a:rPr lang="fr" sz="600"/>
              <a:t> - FK int </a:t>
            </a:r>
            <a:endParaRPr sz="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/>
              <a:t>#city_id</a:t>
            </a:r>
            <a:r>
              <a:rPr lang="fr" sz="600">
                <a:solidFill>
                  <a:schemeClr val="dk1"/>
                </a:solidFill>
              </a:rPr>
              <a:t> - FK int</a:t>
            </a:r>
            <a:endParaRPr sz="600"/>
          </a:p>
        </p:txBody>
      </p:sp>
      <p:cxnSp>
        <p:nvCxnSpPr>
          <p:cNvPr id="159" name="Google Shape;159;p16"/>
          <p:cNvCxnSpPr>
            <a:stCxn id="160" idx="2"/>
            <a:endCxn id="146" idx="0"/>
          </p:cNvCxnSpPr>
          <p:nvPr/>
        </p:nvCxnSpPr>
        <p:spPr>
          <a:xfrm flipH="1" rot="-5400000">
            <a:off x="2388050" y="1394401"/>
            <a:ext cx="285300" cy="600"/>
          </a:xfrm>
          <a:prstGeom prst="bentConnector3">
            <a:avLst>
              <a:gd fmla="val 4998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16"/>
          <p:cNvCxnSpPr>
            <a:stCxn id="146" idx="3"/>
            <a:endCxn id="154" idx="1"/>
          </p:cNvCxnSpPr>
          <p:nvPr/>
        </p:nvCxnSpPr>
        <p:spPr>
          <a:xfrm>
            <a:off x="3250388" y="2167279"/>
            <a:ext cx="318600" cy="600"/>
          </a:xfrm>
          <a:prstGeom prst="bentConnector3">
            <a:avLst>
              <a:gd fmla="val 5000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" name="Google Shape;162;p16"/>
          <p:cNvCxnSpPr>
            <a:stCxn id="156" idx="1"/>
            <a:endCxn id="160" idx="3"/>
          </p:cNvCxnSpPr>
          <p:nvPr/>
        </p:nvCxnSpPr>
        <p:spPr>
          <a:xfrm flipH="1">
            <a:off x="3250500" y="731700"/>
            <a:ext cx="439500" cy="600"/>
          </a:xfrm>
          <a:prstGeom prst="bentConnector3">
            <a:avLst>
              <a:gd fmla="val 5001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" name="Google Shape;163;p16"/>
          <p:cNvCxnSpPr>
            <a:stCxn id="157" idx="3"/>
            <a:endCxn id="146" idx="2"/>
          </p:cNvCxnSpPr>
          <p:nvPr/>
        </p:nvCxnSpPr>
        <p:spPr>
          <a:xfrm flipH="1" rot="10800000">
            <a:off x="1657189" y="2797304"/>
            <a:ext cx="873300" cy="728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16"/>
          <p:cNvCxnSpPr>
            <a:stCxn id="148" idx="1"/>
            <a:endCxn id="146" idx="2"/>
          </p:cNvCxnSpPr>
          <p:nvPr/>
        </p:nvCxnSpPr>
        <p:spPr>
          <a:xfrm rot="10800000">
            <a:off x="2530293" y="2797229"/>
            <a:ext cx="507600" cy="720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16"/>
          <p:cNvSpPr/>
          <p:nvPr/>
        </p:nvSpPr>
        <p:spPr>
          <a:xfrm>
            <a:off x="5540300" y="461704"/>
            <a:ext cx="1440000" cy="540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/>
              <a:t>Contacts</a:t>
            </a:r>
            <a:endParaRPr b="1" sz="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1"/>
                </a:solidFill>
              </a:rPr>
              <a:t>#id - PK int AO</a:t>
            </a:r>
            <a:endParaRPr sz="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/>
              <a:t>email - VARCHAR(255) NN </a:t>
            </a:r>
            <a:endParaRPr sz="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/>
              <a:t>mobile_phone - VARCHAR(20)</a:t>
            </a:r>
            <a:endParaRPr sz="600"/>
          </a:p>
        </p:txBody>
      </p:sp>
      <p:cxnSp>
        <p:nvCxnSpPr>
          <p:cNvPr id="166" name="Google Shape;166;p16"/>
          <p:cNvCxnSpPr>
            <a:stCxn id="154" idx="3"/>
            <a:endCxn id="147" idx="1"/>
          </p:cNvCxnSpPr>
          <p:nvPr/>
        </p:nvCxnSpPr>
        <p:spPr>
          <a:xfrm>
            <a:off x="5008993" y="2167579"/>
            <a:ext cx="531300" cy="600"/>
          </a:xfrm>
          <a:prstGeom prst="bentConnector3">
            <a:avLst>
              <a:gd fmla="val 5000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" name="Google Shape;167;p16"/>
          <p:cNvCxnSpPr>
            <a:stCxn id="165" idx="2"/>
            <a:endCxn id="147" idx="0"/>
          </p:cNvCxnSpPr>
          <p:nvPr/>
        </p:nvCxnSpPr>
        <p:spPr>
          <a:xfrm flipH="1" rot="-5400000">
            <a:off x="5992700" y="1269304"/>
            <a:ext cx="535800" cy="600"/>
          </a:xfrm>
          <a:prstGeom prst="bentConnector3">
            <a:avLst>
              <a:gd fmla="val 5000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16"/>
          <p:cNvCxnSpPr>
            <a:stCxn id="149" idx="2"/>
            <a:endCxn id="150" idx="3"/>
          </p:cNvCxnSpPr>
          <p:nvPr/>
        </p:nvCxnSpPr>
        <p:spPr>
          <a:xfrm rot="5400000">
            <a:off x="5539858" y="3968579"/>
            <a:ext cx="720900" cy="720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16"/>
          <p:cNvCxnSpPr>
            <a:stCxn id="151" idx="1"/>
            <a:endCxn id="149" idx="2"/>
          </p:cNvCxnSpPr>
          <p:nvPr/>
        </p:nvCxnSpPr>
        <p:spPr>
          <a:xfrm rot="10800000">
            <a:off x="6260194" y="3968154"/>
            <a:ext cx="968100" cy="720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" name="Google Shape;170;p16"/>
          <p:cNvCxnSpPr>
            <a:stCxn id="147" idx="2"/>
            <a:endCxn id="149" idx="0"/>
          </p:cNvCxnSpPr>
          <p:nvPr/>
        </p:nvCxnSpPr>
        <p:spPr>
          <a:xfrm flipH="1" rot="-5400000">
            <a:off x="6035308" y="3022579"/>
            <a:ext cx="450600" cy="600"/>
          </a:xfrm>
          <a:prstGeom prst="bentConnector3">
            <a:avLst>
              <a:gd fmla="val 4999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16"/>
          <p:cNvCxnSpPr>
            <a:stCxn id="151" idx="0"/>
            <a:endCxn id="158" idx="2"/>
          </p:cNvCxnSpPr>
          <p:nvPr/>
        </p:nvCxnSpPr>
        <p:spPr>
          <a:xfrm rot="-5400000">
            <a:off x="7903294" y="4193454"/>
            <a:ext cx="450600" cy="600"/>
          </a:xfrm>
          <a:prstGeom prst="bentConnector3">
            <a:avLst>
              <a:gd fmla="val 4999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16"/>
          <p:cNvCxnSpPr>
            <a:stCxn id="158" idx="0"/>
            <a:endCxn id="152" idx="2"/>
          </p:cNvCxnSpPr>
          <p:nvPr/>
        </p:nvCxnSpPr>
        <p:spPr>
          <a:xfrm rot="-5400000">
            <a:off x="7813144" y="3112742"/>
            <a:ext cx="630900" cy="600"/>
          </a:xfrm>
          <a:prstGeom prst="bentConnector3">
            <a:avLst>
              <a:gd fmla="val 4999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" name="Google Shape;173;p16"/>
          <p:cNvCxnSpPr>
            <a:stCxn id="152" idx="0"/>
            <a:endCxn id="153" idx="2"/>
          </p:cNvCxnSpPr>
          <p:nvPr/>
        </p:nvCxnSpPr>
        <p:spPr>
          <a:xfrm rot="-5400000">
            <a:off x="7813444" y="1941854"/>
            <a:ext cx="6309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" name="Google Shape;160;p16"/>
          <p:cNvSpPr/>
          <p:nvPr/>
        </p:nvSpPr>
        <p:spPr>
          <a:xfrm>
            <a:off x="1810400" y="211351"/>
            <a:ext cx="1440000" cy="1040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/>
              <a:t>GamesPlatforms</a:t>
            </a:r>
            <a:endParaRPr b="1"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1"/>
                </a:solidFill>
              </a:rPr>
              <a:t>#id - PK int AO 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chemeClr val="dk1"/>
                </a:solidFill>
              </a:rPr>
              <a:t>#</a:t>
            </a:r>
            <a:r>
              <a:rPr lang="fr" sz="600"/>
              <a:t>game_id</a:t>
            </a:r>
            <a:r>
              <a:rPr lang="fr" sz="600"/>
              <a:t> - FK int </a:t>
            </a:r>
            <a:endParaRPr sz="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/>
              <a:t>#platform_id</a:t>
            </a:r>
            <a:r>
              <a:rPr lang="fr" sz="600">
                <a:solidFill>
                  <a:schemeClr val="dk1"/>
                </a:solidFill>
              </a:rPr>
              <a:t> - FK int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600">
                <a:solidFill>
                  <a:schemeClr val="dk1"/>
                </a:solidFill>
              </a:rPr>
              <a:t>NA_sales - DECIMAL[6,2]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600">
                <a:solidFill>
                  <a:schemeClr val="dk1"/>
                </a:solidFill>
              </a:rPr>
              <a:t>EU_sales - DECIMAL[6,2]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600">
                <a:solidFill>
                  <a:schemeClr val="dk1"/>
                </a:solidFill>
              </a:rPr>
              <a:t>JP_sales - DECIMAL[6,2]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600">
                <a:solidFill>
                  <a:schemeClr val="dk1"/>
                </a:solidFill>
              </a:rPr>
              <a:t>others_sales - DECIMAL[6,2]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600">
                <a:solidFill>
                  <a:schemeClr val="dk1"/>
                </a:solidFill>
              </a:rPr>
              <a:t>global_sales - DECIMAL[6,2]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174" name="Google Shape;174;p16"/>
          <p:cNvCxnSpPr>
            <a:stCxn id="155" idx="3"/>
            <a:endCxn id="146" idx="1"/>
          </p:cNvCxnSpPr>
          <p:nvPr/>
        </p:nvCxnSpPr>
        <p:spPr>
          <a:xfrm>
            <a:off x="1583239" y="2167279"/>
            <a:ext cx="227100" cy="600"/>
          </a:xfrm>
          <a:prstGeom prst="bentConnector3">
            <a:avLst>
              <a:gd fmla="val 5001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